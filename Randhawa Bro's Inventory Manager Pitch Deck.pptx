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JetBrains Mono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a9cde80f-ea14-4b18-aa17-4b28b97e428a.fntdata" /><ns0:Relationship Id="rIdFont20" Type="http://schemas.openxmlformats.org/officeDocument/2006/relationships/font" Target="fonts/e209abe6-1a9a-4e0e-8541-80911c28d2cc.fntdata" /><ns0:Relationship Id="rIdFont21" Type="http://schemas.openxmlformats.org/officeDocument/2006/relationships/font" Target="fonts/b0c464cd-1eaa-4d1d-96bb-3e4b6b0bcc8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11873"/>
            <a:ext cx="6096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1347787"/>
            <a:ext cx="61341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1462087"/>
            <a:ext cx="5905500" cy="396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8162"/>
            <a:ext cx="3250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A855F7"/>
                </a:solidFill>
                <a:latin typeface="JetBrains Mono"/>
              </a:rPr>
              <a:t>HACKATHON PROJECT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43950" y="533400"/>
            <a:ext cx="34480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Amrit Randhawa &amp; Tranpreet Randhawa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153150"/>
            <a:ext cx="552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POWERED BY GEMINI 4 ARGON · GPT 6 LUNA · CLAUDE 5.5 SONNET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36601"/>
            <a:ext cx="4700587" cy="1131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b="1" sz="4050" i="0" u="none">
                <a:solidFill>
                  <a:srgbClr val="F8FAFC"/>
                </a:solidFill>
                <a:latin typeface="Plus Jakarta Sans"/>
              </a:rPr>
              <a:t>Randhawa Bro's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58492"/>
            <a:ext cx="4476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Every shelf, counter, and bill on one unified screen.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47887"/>
            <a:ext cx="5019675" cy="361950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6475" y="2624137"/>
            <a:ext cx="19050" cy="2667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62725" y="2147887"/>
            <a:ext cx="5019675" cy="3619500"/>
          </a:xfrm>
          <a:prstGeom prst="roundRect">
            <a:avLst>
              <a:gd name="adj" fmla="val 3157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725" y="2557462"/>
            <a:ext cx="20002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3AED"/>
                </a:solidFill>
                <a:latin typeface="JetBrains Mono"/>
              </a:rPr>
              <a:t>01 /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Why Small Business Stock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2528887"/>
            <a:ext cx="318789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Legacy Spreadsheets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043237"/>
            <a:ext cx="43529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Plus Jakarta Sans"/>
              </a:rPr>
              <a:t>Slow Data Entry: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Manual typing blocks busy shop counters.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671887"/>
            <a:ext cx="43529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Plus Jakarta Sans"/>
              </a:rPr>
              <a:t>Blind Stockouts: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Zero early alerts for expiring goods.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300537"/>
            <a:ext cx="43529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Plus Jakarta Sans"/>
              </a:rPr>
              <a:t>Rigid Templates: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Built for accountants rather than shopkeepers.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929187"/>
            <a:ext cx="43529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Plus Jakarta Sans"/>
              </a:rPr>
              <a:t>Disconnected Bills: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Separate tools for stock and invoicing.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77100" y="2528887"/>
            <a:ext cx="307538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Counter-First Reality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3725" y="3043237"/>
            <a:ext cx="43529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Hands-Free Speed:</a:t>
            </a:r>
            <a:r>
              <a:rPr b="0" sz="1425" i="0" u="none">
                <a:solidFill>
                  <a:srgbClr val="1E293B"/>
                </a:solidFill>
                <a:latin typeface="Plus Jakarta Sans"/>
              </a:rPr>
              <a:t> Restock items instantly using voice commands.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3725" y="3671887"/>
            <a:ext cx="43529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Proactive Warnings:</a:t>
            </a:r>
            <a:r>
              <a:rPr b="0" sz="1425" i="0" u="none">
                <a:solidFill>
                  <a:srgbClr val="1E293B"/>
                </a:solidFill>
                <a:latin typeface="Plus Jakarta Sans"/>
              </a:rPr>
              <a:t> Automated low-stock and expiry tracking.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3725" y="4300537"/>
            <a:ext cx="43529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Tailored Workflows:</a:t>
            </a:r>
            <a:r>
              <a:rPr b="0" sz="1425" i="0" u="none">
                <a:solidFill>
                  <a:srgbClr val="1E293B"/>
                </a:solidFill>
                <a:latin typeface="Plus Jakarta Sans"/>
              </a:rPr>
              <a:t> Presets for kiranas, cafes, and bookshops.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3725" y="4929187"/>
            <a:ext cx="43529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Unified Billing:</a:t>
            </a:r>
            <a:r>
              <a:rPr b="0" sz="1425" i="0" u="none">
                <a:solidFill>
                  <a:srgbClr val="1E293B"/>
                </a:solidFill>
                <a:latin typeface="Plus Jakarta Sans"/>
              </a:rPr>
              <a:t> Instant GST invoices deduct stock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1681162"/>
            <a:ext cx="7353300" cy="4476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95462"/>
            <a:ext cx="7124700" cy="424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3AED"/>
                </a:solidFill>
                <a:latin typeface="JetBrains Mono"/>
              </a:rPr>
              <a:t>02 /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Built for the Counter, Not the Spreadsheet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47937"/>
            <a:ext cx="42505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Voice &amp; Barcode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71787"/>
            <a:ext cx="3333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Speak restock updates or scan SKUs in one tap.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38537"/>
            <a:ext cx="42505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Auto-Deducting Recipes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62387"/>
            <a:ext cx="3333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Every dish sold pulls raw ingredients from stock.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29137"/>
            <a:ext cx="42505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One-Click GST Bills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852987"/>
            <a:ext cx="3333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Generate printable customer invoices on every sale.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3AED"/>
                </a:solidFill>
                <a:latin typeface="JetBrains Mono"/>
              </a:rPr>
              <a:t>03 / PLATFORM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Zero Friction from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81337"/>
            <a:ext cx="314325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b="1" sz="5700" i="0" u="none">
                <a:solidFill>
                  <a:srgbClr val="7C3AED"/>
                </a:solidFill>
                <a:latin typeface="Plus Jakarta Sans"/>
              </a:rPr>
              <a:t>10+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919537"/>
            <a:ext cx="33004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Business Presets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243387"/>
            <a:ext cx="2609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Ready-to-use industry templates.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828925"/>
            <a:ext cx="2609850" cy="144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b="1" sz="5700" i="0" u="none">
                <a:solidFill>
                  <a:srgbClr val="EC4899"/>
                </a:solidFill>
                <a:latin typeface="Plus Jakarta Sans"/>
              </a:rPr>
              <a:t>3 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391025"/>
            <a:ext cx="33004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Stock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714875"/>
            <a:ext cx="3143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Voice, barcode scan, or CSV.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3081337"/>
            <a:ext cx="314325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b="1" sz="5700" i="0" u="none">
                <a:solidFill>
                  <a:srgbClr val="0F172A"/>
                </a:solidFill>
                <a:latin typeface="Plus Jakarta Sans"/>
              </a:rPr>
              <a:t>1 Tap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919537"/>
            <a:ext cx="33004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Instant Billing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4243387"/>
            <a:ext cx="2609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Printable GST customer invoices.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7800" y="3190875"/>
            <a:ext cx="312420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b="1" sz="5700" i="0" u="none">
                <a:solidFill>
                  <a:srgbClr val="0F172A"/>
                </a:solidFill>
                <a:latin typeface="Plus Jakarta Sans"/>
              </a:rPr>
              <a:t>&lt;60s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7800" y="4029075"/>
            <a:ext cx="312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Store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7800" y="4352925"/>
            <a:ext cx="3124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No staff training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81162"/>
            <a:ext cx="6972300" cy="4476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795462"/>
            <a:ext cx="6743700" cy="424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900" y="3143250"/>
            <a:ext cx="19050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900" y="3495675"/>
            <a:ext cx="1524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900" y="4067175"/>
            <a:ext cx="15240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2900" y="4419600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2900" y="4991100"/>
            <a:ext cx="161925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3AED"/>
                </a:solidFill>
                <a:latin typeface="JetBrains Mono"/>
              </a:rPr>
              <a:t>04 / MULTI-CATEGORY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Open Straight Into Your 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2900" y="2443162"/>
            <a:ext cx="3714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Tailored workflows for every neighborhood business: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900" y="3109912"/>
            <a:ext cx="4229100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Kirana &amp; Medical: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Expiry-first shelf alerts.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2900" y="3462337"/>
            <a:ext cx="3714750" cy="43815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Cafe &amp; Restaurant: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Ingredient recipe deduction.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0" y="4033837"/>
            <a:ext cx="4229100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Book Depot: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ISBN barcode catalogue.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900" y="4386262"/>
            <a:ext cx="3714750" cy="43815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Electrical &amp; Hardware: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Brand SKU tracking.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2900" y="4957762"/>
            <a:ext cx="3714750" cy="43815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Custom Builder: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Define custom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76375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476375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476375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86100"/>
            <a:ext cx="10972800" cy="3238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3200400"/>
            <a:ext cx="10744200" cy="3009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3AED"/>
                </a:solidFill>
                <a:latin typeface="JetBrains Mono"/>
              </a:rPr>
              <a:t>05 / SEAMLESS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Three Steps. No Training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66875"/>
            <a:ext cx="31432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C3AED"/>
                </a:solidFill>
                <a:latin typeface="Plus Jakarta Sans"/>
              </a:rPr>
              <a:t>STEP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66875"/>
            <a:ext cx="31432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C4899"/>
                </a:solidFill>
                <a:latin typeface="Plus Jakarta Sans"/>
              </a:rP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5800" y="1666875"/>
            <a:ext cx="31432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STEP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14525"/>
            <a:ext cx="4000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Add Your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190750"/>
            <a:ext cx="3143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Enter products once with alert thresholds.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14525"/>
            <a:ext cx="4000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Voice or Scan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0750"/>
            <a:ext cx="3143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Speak restocks or scan ISBN barcodes.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1914525"/>
            <a:ext cx="388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Bill and 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2190750"/>
            <a:ext cx="381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Tap sold items to print GST invoices.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5062"/>
            <a:ext cx="3619500" cy="1181100"/>
          </a:xfrm>
          <a:prstGeom prst="roundRect">
            <a:avLst>
              <a:gd name="adj" fmla="val 9677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1681162"/>
            <a:ext cx="6972300" cy="447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795462"/>
            <a:ext cx="6743700" cy="4248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3AED"/>
                </a:solidFill>
                <a:latin typeface="JetBrains Mono"/>
              </a:rPr>
              <a:t>06 / HANDS-FREE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Natural Voice &amp; Barcode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633662"/>
            <a:ext cx="3952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3AED"/>
                </a:solidFill>
                <a:latin typeface="JetBrains Mono"/>
              </a:rPr>
              <a:t>VOICE COMMAND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881312"/>
            <a:ext cx="32575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"Restocked 10 copies of Atomic Habits"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14762"/>
            <a:ext cx="3714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Instant Parsing: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Extracts product name, quantity, and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05312"/>
            <a:ext cx="3714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ISBN &amp; SKU Scanner: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One-tap stock in (+1) or stock out (-1).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995862"/>
            <a:ext cx="3714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Manual Override: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Exact quantity adjustments anytime.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81162"/>
            <a:ext cx="7162800" cy="4476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795462"/>
            <a:ext cx="6934200" cy="424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A580C"/>
                </a:solidFill>
                <a:latin typeface="JetBrains Mono"/>
              </a:rPr>
              <a:t>07 / SMART BILLING &amp; RECIPES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Automated Recipe Deduction &amp; Invoicing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3400" y="2547937"/>
            <a:ext cx="4038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Ingredient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3400" y="2871787"/>
            <a:ext cx="3524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One Paneer Butter Masala order deducts 5 raw ingredients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0" y="3538537"/>
            <a:ext cx="4038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Live Dish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0" y="3862387"/>
            <a:ext cx="3524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Menu items auto-lock when core ingredients run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3400" y="4529137"/>
            <a:ext cx="4038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Fire Order &amp; Bill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400" y="4852987"/>
            <a:ext cx="3524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Single click generates GST invoice and updates kitchen stock.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681162"/>
            <a:ext cx="7162800" cy="4476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1795462"/>
            <a:ext cx="6934200" cy="424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284C7"/>
                </a:solidFill>
                <a:latin typeface="JetBrains Mono"/>
              </a:rPr>
              <a:t>08 / REAL-TIME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Warnings Before It Is Too 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66987"/>
            <a:ext cx="45005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Urgency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90837"/>
            <a:ext cx="3524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Critical out-of-stock and low-stock items surface at the 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38537"/>
            <a:ext cx="45005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7-Day Expiry Radar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62387"/>
            <a:ext cx="3524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Flags perishable items expiring within a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10087"/>
            <a:ext cx="45005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Healthy Stock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833937"/>
            <a:ext cx="3524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Instant visual breakdown of total catalog health.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81162"/>
            <a:ext cx="7162800" cy="4476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795462"/>
            <a:ext cx="6934200" cy="424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59669"/>
                </a:solidFill>
                <a:latin typeface="JetBrains Mono"/>
              </a:rPr>
              <a:t>09 /SMART CATALOGING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Expiry-Aware Shelf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3400" y="2566987"/>
            <a:ext cx="4038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Auto-Generated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3400" y="2890837"/>
            <a:ext cx="3524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Creates scannable codes automatically if none exist.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0" y="3538537"/>
            <a:ext cx="4038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Custom Alert Thresholds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0" y="3862387"/>
            <a:ext cx="3524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Set custom minimum stock rules per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3400" y="4510087"/>
            <a:ext cx="4038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Flexible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400" y="4833937"/>
            <a:ext cx="35242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Track pieces, packets, kilograms, or liters seamlessly.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90850"/>
            <a:ext cx="347975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881312"/>
            <a:ext cx="347975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90850"/>
            <a:ext cx="347975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33750"/>
            <a:ext cx="2286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32242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200" y="3333750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3AED"/>
                </a:solidFill>
                <a:latin typeface="JetBrains Mono"/>
              </a:rPr>
              <a:t>10 / AI ENGINE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Powered by Next-Gen Foundation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29050"/>
            <a:ext cx="386708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Gemini 4 Argon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210050"/>
            <a:ext cx="3682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Real-time voice intent recognition.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2750" y="3719512"/>
            <a:ext cx="386708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GPT 6 Luna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750" y="4100512"/>
            <a:ext cx="3041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Automated recipe ingredient deduction.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200" y="3829050"/>
            <a:ext cx="382279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Claude 5.5 Sonnet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9200" y="4210050"/>
            <a:ext cx="3682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Dynamic UI and invoice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43587" y="3959423"/>
            <a:ext cx="1905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89859" y="1741140"/>
            <a:ext cx="3012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C4899"/>
                </a:solidFill>
                <a:latin typeface="JetBrains Mono"/>
              </a:rPr>
              <a:t>BUILT BY RANDHAWA BRO'S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1763" y="2084040"/>
            <a:ext cx="7788473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Ready for the Counter.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2925960"/>
            <a:ext cx="8096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Plus Jakarta Sans"/>
              </a:rPr>
              <a:t>Empowering neighborhood businesses with voice-first inventory and one-tap billing.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8656" y="4916685"/>
            <a:ext cx="3214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JetBrains Mono"/>
              </a:rPr>
              <a:t>THANK YOU · LIVE DEMO &amp;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4238" y="3916560"/>
            <a:ext cx="2587823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FFFFFF"/>
                </a:solidFill>
                <a:latin typeface="Plus Jakarta Sans"/>
              </a:rPr>
              <a:t>Amrit Randhawa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5853" y="4268985"/>
            <a:ext cx="2464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A855F7"/>
                </a:solidFill>
                <a:latin typeface="JetBrains Mono"/>
              </a:rPr>
              <a:t>CO-CREATOR &amp;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8260" y="3916560"/>
            <a:ext cx="3225403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FFFFFF"/>
                </a:solidFill>
                <a:latin typeface="Plus Jakarta Sans"/>
              </a:rPr>
              <a:t>Tranpreet Randhawa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5056" y="4268985"/>
            <a:ext cx="3071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C4899"/>
                </a:solidFill>
                <a:latin typeface="JetBrains Mono"/>
              </a:rPr>
              <a:t>CO-CREATOR &amp; DEVELOPER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